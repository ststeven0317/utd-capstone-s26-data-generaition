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8181101-63F4-0C2B-2C42-F494851AABFD}" name="Eyada, Abdullah Hatem" initials="EA" userId="S::aee210002@utdallas.edu::1dc43f8b-e588-421e-93dc-b40887e202a1" providerId="AD"/>
  <p188:author id="{4FCAC53E-A7EA-9900-1900-A96EA882A842}" name="ham ssack" initials="hs" userId="e1cf4eb9760ed757" providerId="Windows Live"/>
  <p188:author id="{558E3842-E773-495C-878A-61584146101E}" name="Al-Bedaiwi, Hamzah M" initials="AH" userId="S::hma210004@utdallas.edu::5b605b22-2e67-47a2-8588-b76cea9c1aa9" providerId="AD"/>
  <p188:author id="{E345E352-3A58-2E7C-E774-D23C5CDC12AA}" name="Gadhia, Jay K" initials="GJ" userId="S::jkg210001@utdallas.edu::83755544-258e-4cd5-97e6-941a39b4668c" providerId="AD"/>
  <p188:author id="{6F0FBC6D-7580-532A-E045-1014A5F37DFE}" name="Jackson, Logan Lieou" initials="LJ" userId="S::llj190001@utdallas.edu::5b4fdb6b-c63b-4bb1-90a9-9079d066bcba" providerId="AD"/>
  <p188:author id="{514E37B4-CFF9-E190-69A9-EC5AE6DC6074}" name="Khalid, Yousuf" initials="KY" userId="S::yxk220041@utdallas.edu::9079d19b-2035-40b2-a939-ab6ca4bca8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F1F"/>
    <a:srgbClr val="7AC0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2601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7" y="0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r">
              <a:defRPr sz="1200"/>
            </a:lvl1pPr>
          </a:lstStyle>
          <a:p>
            <a:fld id="{C0287AE3-470F-48D7-8AFA-31CB247DB66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8" rIns="93177" bIns="4658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8" rIns="93177" bIns="4658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7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r">
              <a:defRPr sz="1200"/>
            </a:lvl1pPr>
          </a:lstStyle>
          <a:p>
            <a:fld id="{1A979886-74EF-4642-AE36-6DD0E1908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51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45184" y="6234546"/>
            <a:ext cx="2137559" cy="579004"/>
          </a:xfrm>
        </p:spPr>
        <p:txBody>
          <a:bodyPr/>
          <a:lstStyle>
            <a:lvl1pPr>
              <a:defRPr sz="1050" b="0" i="1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Applying academic innovations to real–world engineering and computer science problems</a:t>
            </a:r>
          </a:p>
        </p:txBody>
      </p:sp>
    </p:spTree>
    <p:extLst>
      <p:ext uri="{BB962C8B-B14F-4D97-AF65-F5344CB8AC3E}">
        <p14:creationId xmlns:p14="http://schemas.microsoft.com/office/powerpoint/2010/main" val="879642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59972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49562"/>
            <a:ext cx="8229600" cy="3576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5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9889" y="1508219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2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67031"/>
            <a:ext cx="8229600" cy="9382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91380"/>
            <a:ext cx="4038600" cy="38347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91380"/>
            <a:ext cx="4038600" cy="38347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2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62985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86983"/>
            <a:ext cx="4040188" cy="4039179"/>
          </a:xfrm>
        </p:spPr>
        <p:txBody>
          <a:bodyPr/>
          <a:lstStyle>
            <a:lvl1pPr marL="0" indent="0">
              <a:buFontTx/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362985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086983"/>
            <a:ext cx="4041775" cy="4039179"/>
          </a:xfrm>
        </p:spPr>
        <p:txBody>
          <a:bodyPr/>
          <a:lstStyle>
            <a:lvl1pPr marL="0" indent="0">
              <a:buFontTx/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3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11680"/>
            <a:ext cx="8229600" cy="11430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4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87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91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635161"/>
            <a:ext cx="5486400" cy="30924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3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4560C-E380-1943-B5D7-49A23CA338C0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 descr="Engineering_Powerpoint.jp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2" y="6356350"/>
            <a:ext cx="2081048" cy="457200"/>
          </a:xfrm>
          <a:prstGeom prst="rect">
            <a:avLst/>
          </a:prstGeom>
        </p:spPr>
      </p:pic>
      <p:grpSp>
        <p:nvGrpSpPr>
          <p:cNvPr id="23" name="Group 22"/>
          <p:cNvGrpSpPr/>
          <p:nvPr userDrawn="1"/>
        </p:nvGrpSpPr>
        <p:grpSpPr>
          <a:xfrm>
            <a:off x="-3" y="6237389"/>
            <a:ext cx="9144000" cy="0"/>
            <a:chOff x="-3" y="6237389"/>
            <a:chExt cx="9144000" cy="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3" y="6237389"/>
              <a:ext cx="6658984" cy="0"/>
            </a:xfrm>
            <a:prstGeom prst="line">
              <a:avLst/>
            </a:prstGeom>
            <a:ln w="38100">
              <a:solidFill>
                <a:srgbClr val="7AC04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6658981" y="6237389"/>
              <a:ext cx="2485016" cy="0"/>
            </a:xfrm>
            <a:prstGeom prst="line">
              <a:avLst/>
            </a:prstGeom>
            <a:ln w="38100">
              <a:solidFill>
                <a:srgbClr val="E46F1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Slide Number Placeholder 5"/>
          <p:cNvSpPr txBox="1">
            <a:spLocks/>
          </p:cNvSpPr>
          <p:nvPr userDrawn="1"/>
        </p:nvSpPr>
        <p:spPr>
          <a:xfrm>
            <a:off x="6745184" y="6256062"/>
            <a:ext cx="2137559" cy="57900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50" b="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Applying academic innovations to real–world engineering and computer science problems</a:t>
            </a:r>
          </a:p>
        </p:txBody>
      </p:sp>
    </p:spTree>
    <p:extLst>
      <p:ext uri="{BB962C8B-B14F-4D97-AF65-F5344CB8AC3E}">
        <p14:creationId xmlns:p14="http://schemas.microsoft.com/office/powerpoint/2010/main" val="274962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Data Dialog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2464D"/>
                </a:solidFill>
              </a:defRPr>
            </a:pPr>
            <a:r>
              <a:t>Conversational intelligence for Snowflake data ecosystems</a:t>
            </a:r>
          </a:p>
          <a:p>
            <a:r>
              <a:t>UTDallas Capstone • Fall 2025</a:t>
            </a:r>
          </a:p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00684E"/>
                </a:solidFill>
              </a:defRPr>
            </a:pPr>
            <a:r>
              <a:t>Presentation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D2D30"/>
                </a:solidFill>
              </a:defRPr>
            </a:pPr>
            <a:r>
              <a:t>Who we are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Problem we are solving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Solution vision and technical strategy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Delivery plan and current progress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Demo preview and what is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E87500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D2D30"/>
                </a:solidFill>
              </a:defRPr>
            </a:pPr>
            <a:r>
              <a:t>Snowflake estate spans hundreds of tables with limited institutional memory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Subject matter experts become bottlenecks for answering basic data questions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Business partners cannot self-serve insights without SQL fluency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Manual research delays critical underwriting and claims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00684E"/>
                </a:solidFill>
              </a:defRPr>
            </a:pPr>
            <a:r>
              <a:t>Solution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D2D30"/>
                </a:solidFill>
              </a:defRPr>
            </a:pPr>
            <a:r>
              <a:t>Build Data Dialog as a conversational assistant for Snowflake knowledge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Serve tailored experiences for DBA, developer, and analyst personas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Deliver narrated insights that explain what the data means and why it matters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Extend to automated reporting so outputs are stakeholder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400" b="1">
                <a:solidFill>
                  <a:srgbClr val="E87500"/>
                </a:solidFill>
              </a:defRPr>
            </a:pPr>
            <a:r>
              <a:t>High-Level Solution and Tooling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D2D30"/>
                </a:solidFill>
              </a:defRPr>
            </a:pPr>
            <a:r>
              <a:t>React and Tailwind front end delivers responsive chat and landing experiences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Express with TypeScript streams Snowflake Cortex responses via SSE for low latency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Snowflake </a:t>
            </a:r>
            <a:r>
              <a:rPr lang="en-US"/>
              <a:t>Cortex agent defined and tested directly in </a:t>
            </a:r>
            <a:r>
              <a:rPr lang="en-US" err="1"/>
              <a:t>Snowsight</a:t>
            </a:r>
            <a:r>
              <a:rPr lang="en-US"/>
              <a:t> for closed-loop dev</a:t>
            </a:r>
            <a:endParaRPr/>
          </a:p>
          <a:p>
            <a:pPr>
              <a:defRPr sz="2400">
                <a:solidFill>
                  <a:srgbClr val="2D2D30"/>
                </a:solidFill>
              </a:defRPr>
            </a:pPr>
            <a:r>
              <a:rPr err="1"/>
              <a:t>TanStack</a:t>
            </a:r>
            <a:r>
              <a:t> Query, React Query, and </a:t>
            </a:r>
            <a:r>
              <a:rPr err="1"/>
              <a:t>Lucide</a:t>
            </a:r>
            <a:r>
              <a:t> icons provide modern UX foundations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8350"/>
            <a:ext cx="8229600" cy="1143000"/>
          </a:xfrm>
        </p:spPr>
        <p:txBody>
          <a:bodyPr wrap="square"/>
          <a:lstStyle/>
          <a:p>
            <a:pPr>
              <a:defRPr sz="3400" b="1">
                <a:solidFill>
                  <a:srgbClr val="00684E"/>
                </a:solidFill>
              </a:defRPr>
            </a:pPr>
            <a:r>
              <a:rPr lang="en-US"/>
              <a:t>How Everything Fits Together</a:t>
            </a:r>
            <a:endParaRPr/>
          </a:p>
        </p:txBody>
      </p:sp>
      <p:pic>
        <p:nvPicPr>
          <p:cNvPr id="7" name="Picture 6" descr="A diagram of a customer service&#10;&#10;AI-generated content may be incorrect.">
            <a:extLst>
              <a:ext uri="{FF2B5EF4-FFF2-40B4-BE49-F238E27FC236}">
                <a16:creationId xmlns:a16="http://schemas.microsoft.com/office/drawing/2014/main" id="{D95D5D47-95C9-D5BF-5C78-03DD0B163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06" y="2401881"/>
            <a:ext cx="8698388" cy="30644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400" b="1">
                <a:solidFill>
                  <a:srgbClr val="E87500"/>
                </a:solidFill>
              </a:defRPr>
            </a:pPr>
            <a:r>
              <a:t>Phase 1 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D2D30"/>
                </a:solidFill>
              </a:defRPr>
            </a:pPr>
            <a:r>
              <a:t>1 Establish Snowflake Cortex agen</a:t>
            </a:r>
            <a:r>
              <a:rPr lang="en-US"/>
              <a:t>t and secure Express gateway</a:t>
            </a:r>
            <a:endParaRPr/>
          </a:p>
          <a:p>
            <a:pPr>
              <a:defRPr sz="2400">
                <a:solidFill>
                  <a:srgbClr val="2D2D30"/>
                </a:solidFill>
              </a:defRPr>
            </a:pPr>
            <a:r>
              <a:t>2 Deliver chat experience with persona modes and streaming responses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3 Capture insights and reporting scaffolding while hardening DevOps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400" b="1">
                <a:solidFill>
                  <a:srgbClr val="00684E"/>
                </a:solidFill>
              </a:defRPr>
            </a:pPr>
            <a:r>
              <a:t>Delivery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D2D30"/>
                </a:solidFill>
              </a:defRPr>
            </a:pPr>
            <a:r>
              <a:t>Linear board manages discovery, build, and validation </a:t>
            </a:r>
            <a:r>
              <a:rPr lang="en-US" err="1"/>
              <a:t>swimlanes</a:t>
            </a:r>
            <a:endParaRPr/>
          </a:p>
          <a:p>
            <a:pPr>
              <a:defRPr sz="2400">
                <a:solidFill>
                  <a:srgbClr val="2D2D30"/>
                </a:solidFill>
              </a:defRPr>
            </a:pPr>
            <a:r>
              <a:t>Weekly planning syncs map tickets to </a:t>
            </a:r>
            <a:r>
              <a:rPr lang="en-US" err="1"/>
              <a:t>Snowsight</a:t>
            </a:r>
            <a:r>
              <a:t> agent iterations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GitHub PR reviews enforce coding standards and demo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433275" y="4766210"/>
            <a:ext cx="4277450" cy="1174154"/>
          </a:xfrm>
          <a:prstGeom prst="rect">
            <a:avLst/>
          </a:prstGeom>
          <a:solidFill>
            <a:srgbClr val="EEF0F1"/>
          </a:solidFill>
          <a:ln w="25400">
            <a:solidFill>
              <a:srgbClr val="00684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684E"/>
                </a:solidFill>
              </a:defRPr>
            </a:pPr>
            <a:r>
              <a:t>Insert screenshot of Linear board highlighting current sprint</a:t>
            </a:r>
          </a:p>
        </p:txBody>
      </p:sp>
      <p:pic>
        <p:nvPicPr>
          <p:cNvPr id="4" name="Picture 3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EEF7C16E-2A2B-CFDC-C6F2-010B4F4D0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398" y="4684736"/>
            <a:ext cx="4501203" cy="13440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400" b="1">
                <a:solidFill>
                  <a:srgbClr val="E87500"/>
                </a:solidFill>
              </a:defRPr>
            </a:pPr>
            <a:r>
              <a:t>Snowflake Agent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D2D30"/>
                </a:solidFill>
              </a:defRPr>
            </a:pPr>
            <a:r>
              <a:t>Normalized Cortex status events into assistant friendly updates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Persisting thread IDs per client cookie for conversation continuity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Streaming responses over SSE with graceful error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443793" y="4790486"/>
            <a:ext cx="4423107" cy="1206522"/>
          </a:xfrm>
          <a:prstGeom prst="rect">
            <a:avLst/>
          </a:prstGeom>
          <a:solidFill>
            <a:srgbClr val="EEF0F1"/>
          </a:solidFill>
          <a:ln w="25400">
            <a:solidFill>
              <a:srgbClr val="00684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684E"/>
                </a:solidFill>
              </a:defRPr>
            </a:pPr>
            <a:r>
              <a:t>Insert screenshot of Snowsight agent run or streaming logs</a:t>
            </a:r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5D1B159A-87B8-EB8D-EB58-EEB0FE33F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452" y="4703097"/>
            <a:ext cx="5979242" cy="14092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400" b="1">
                <a:solidFill>
                  <a:srgbClr val="00684E"/>
                </a:solidFill>
              </a:defRPr>
            </a:pPr>
            <a:r>
              <a:t>Multi-Role Chat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D2D30"/>
                </a:solidFill>
              </a:defRPr>
            </a:pPr>
            <a:r>
              <a:t>Persona selector tailors prompts for DBA, developer, and analyst workflows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Animated chat surface renders streaming responses with markdown styling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New chat creation spawns Cortex threads on demand with optimistic UI</a:t>
            </a:r>
          </a:p>
        </p:txBody>
      </p:sp>
      <p:pic>
        <p:nvPicPr>
          <p:cNvPr id="6" name="Picture 5" descr="A close up of a text&#10;&#10;AI-generated content may be incorrect.">
            <a:extLst>
              <a:ext uri="{FF2B5EF4-FFF2-40B4-BE49-F238E27FC236}">
                <a16:creationId xmlns:a16="http://schemas.microsoft.com/office/drawing/2014/main" id="{12BBAF5E-8B8B-3AEA-83D0-B10A5233A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425" y="4971435"/>
            <a:ext cx="4488425" cy="10569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E87500"/>
                </a:solidFill>
              </a:defRPr>
            </a:pPr>
            <a:r>
              <a:t>Conversation Management and Status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D2D30"/>
                </a:solidFill>
              </a:defRPr>
            </a:pPr>
            <a:r>
              <a:t>Thread list hydrates from Cortex history with rename and delete controls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Inline status ticker translates tool usage to plain language updates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Scroll management keeps users anchored on the latest insight</a:t>
            </a: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5FFBC180-BFAF-DEB2-BE31-1C1BC5D0F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980" y="4755125"/>
            <a:ext cx="4230330" cy="11700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400" b="1">
                <a:solidFill>
                  <a:srgbClr val="00684E"/>
                </a:solidFill>
              </a:defRPr>
            </a:pPr>
            <a:r>
              <a:t>Report Generator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D2D30"/>
                </a:solidFill>
              </a:defRPr>
            </a:pPr>
            <a:r>
              <a:t>Modal drives summary, detailed, and technical report paths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Report exports to downloadable briefs with insight and action sections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Toast feedback and validation protect against empty conversations</a:t>
            </a: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8529452A-ACEF-3B9F-48D2-30B0F0042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890" y="4714567"/>
            <a:ext cx="4200219" cy="12388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>
                <a:solidFill>
                  <a:srgbClr val="E87500"/>
                </a:solidFill>
              </a:defRPr>
            </a:pPr>
            <a:r>
              <a:t>Landing and Onboarding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D2D30"/>
                </a:solidFill>
              </a:defRPr>
            </a:pPr>
            <a:r>
              <a:t>Hero section communicates value proposition with motion design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Feature cards outline core capabilities aligned to personas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Role selection cards educate stakeholders on tailored workflows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400" b="1">
                <a:solidFill>
                  <a:srgbClr val="00684E"/>
                </a:solidFill>
              </a:defRPr>
            </a:pPr>
            <a:r>
              <a:t>Demo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D2D30"/>
                </a:solidFill>
              </a:defRPr>
            </a:pPr>
            <a:r>
              <a:t>Walk through persona selection and first query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Highlight live status updates and report generation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Share key insights stakeholders should watch for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400" b="1">
                <a:solidFill>
                  <a:srgbClr val="E87500"/>
                </a:solidFill>
              </a:defRPr>
            </a:pPr>
            <a:r>
              <a:t>Phase 2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2D2D30"/>
                </a:solidFill>
              </a:defRPr>
            </a:pPr>
            <a:r>
              <a:t>Complete /</a:t>
            </a:r>
            <a:r>
              <a:rPr err="1"/>
              <a:t>api</a:t>
            </a:r>
            <a:r>
              <a:t>/report service for PDF and dashboard-ready exports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Add authentication, auditing, and observability for enterprise readiness</a:t>
            </a:r>
          </a:p>
          <a:p>
            <a:pPr>
              <a:defRPr sz="2400">
                <a:solidFill>
                  <a:srgbClr val="2D2D30"/>
                </a:solidFill>
              </a:defRPr>
            </a:pPr>
            <a:r>
              <a:t>Run pilot sessions with business analysts to capture usability feedback</a:t>
            </a:r>
            <a:endParaRPr lang="en-US"/>
          </a:p>
          <a:p>
            <a:pPr>
              <a:defRPr sz="2400">
                <a:solidFill>
                  <a:srgbClr val="2D2D30"/>
                </a:solidFill>
              </a:defRPr>
            </a:pPr>
            <a:r>
              <a:rPr lang="en-US"/>
              <a:t>Model Evaluation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200" b="1">
                <a:solidFill>
                  <a:srgbClr val="00684E"/>
                </a:solidFill>
              </a:defRPr>
            </a:pPr>
            <a:r>
              <a:t>Questions</a:t>
            </a:r>
            <a:r>
              <a:rPr lang="en-US"/>
              <a:t>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200" b="1">
                <a:solidFill>
                  <a:srgbClr val="E87500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orate proposal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corporate proposal presentation</Template>
  <TotalTime>0</TotalTime>
  <Words>477</Words>
  <Application>Microsoft Office PowerPoint</Application>
  <PresentationFormat>On-screen Show (4:3)</PresentationFormat>
  <Paragraphs>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corporate proposal presentation</vt:lpstr>
      <vt:lpstr>Data Dialog</vt:lpstr>
      <vt:lpstr>Presentation Roadmap</vt:lpstr>
      <vt:lpstr>Problem Statement</vt:lpstr>
      <vt:lpstr>Solution Vision</vt:lpstr>
      <vt:lpstr>High-Level Solution and Tooling</vt:lpstr>
      <vt:lpstr>How Everything Fits Together</vt:lpstr>
      <vt:lpstr>Phase 1 Implementation Plan</vt:lpstr>
      <vt:lpstr>Delivery Workflow</vt:lpstr>
      <vt:lpstr>Snowflake Agent Integration</vt:lpstr>
      <vt:lpstr>Multi-Role Chat Experience</vt:lpstr>
      <vt:lpstr>Conversation Management and Status UX</vt:lpstr>
      <vt:lpstr>Report Generator Foundations</vt:lpstr>
      <vt:lpstr>Landing and Onboarding Experience</vt:lpstr>
      <vt:lpstr>Demo Preview</vt:lpstr>
      <vt:lpstr>Phase 2 Roadmap</vt:lpstr>
      <vt:lpstr>Questions?</vt:lpstr>
      <vt:lpstr>Thank You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–Company     Company Logo</dc:title>
  <dc:creator>Turcatti, Andrea</dc:creator>
  <cp:lastModifiedBy>ham ssack</cp:lastModifiedBy>
  <cp:revision>3</cp:revision>
  <cp:lastPrinted>2013-08-05T14:02:13Z</cp:lastPrinted>
  <dcterms:created xsi:type="dcterms:W3CDTF">2013-07-30T12:59:57Z</dcterms:created>
  <dcterms:modified xsi:type="dcterms:W3CDTF">2025-12-15T15:02:23Z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238890f-b1c9-4d24-91e8-fc1fbd7a2e5e_Enabled">
    <vt:lpwstr>true</vt:lpwstr>
  </property>
  <property fmtid="{D5CDD505-2E9C-101B-9397-08002B2CF9AE}" pid="3" name="MSIP_Label_8238890f-b1c9-4d24-91e8-fc1fbd7a2e5e_SetDate">
    <vt:lpwstr>2025-01-10T01:04:21Z</vt:lpwstr>
  </property>
  <property fmtid="{D5CDD505-2E9C-101B-9397-08002B2CF9AE}" pid="4" name="MSIP_Label_8238890f-b1c9-4d24-91e8-fc1fbd7a2e5e_Method">
    <vt:lpwstr>Privileged</vt:lpwstr>
  </property>
  <property fmtid="{D5CDD505-2E9C-101B-9397-08002B2CF9AE}" pid="5" name="MSIP_Label_8238890f-b1c9-4d24-91e8-fc1fbd7a2e5e_Name">
    <vt:lpwstr>Public</vt:lpwstr>
  </property>
  <property fmtid="{D5CDD505-2E9C-101B-9397-08002B2CF9AE}" pid="6" name="MSIP_Label_8238890f-b1c9-4d24-91e8-fc1fbd7a2e5e_SiteId">
    <vt:lpwstr>ecba9361-f186-473c-a3a8-60af39258895</vt:lpwstr>
  </property>
  <property fmtid="{D5CDD505-2E9C-101B-9397-08002B2CF9AE}" pid="7" name="MSIP_Label_8238890f-b1c9-4d24-91e8-fc1fbd7a2e5e_ActionId">
    <vt:lpwstr>49378750-0622-4a1b-ad8c-34226db1a6f9</vt:lpwstr>
  </property>
  <property fmtid="{D5CDD505-2E9C-101B-9397-08002B2CF9AE}" pid="8" name="MSIP_Label_8238890f-b1c9-4d24-91e8-fc1fbd7a2e5e_ContentBits">
    <vt:lpwstr>2</vt:lpwstr>
  </property>
  <property fmtid="{D5CDD505-2E9C-101B-9397-08002B2CF9AE}" pid="9" name="ClassificationContentMarkingFooterLocations">
    <vt:lpwstr>corporate proposal presentation:9</vt:lpwstr>
  </property>
  <property fmtid="{D5CDD505-2E9C-101B-9397-08002B2CF9AE}" pid="10" name="ClassificationContentMarkingFooterText">
    <vt:lpwstr>USAA Classification: Public</vt:lpwstr>
  </property>
</Properties>
</file>